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Fragment Mono" panose="020B0604020202020204" charset="0"/>
      <p:regular r:id="rId15"/>
    </p:embeddedFont>
    <p:embeddedFont>
      <p:font typeface="Atkinson Hyperlegible Next Bold" panose="020B0604020202020204" charset="0"/>
      <p:regular r:id="rId16"/>
    </p:embeddedFont>
    <p:embeddedFont>
      <p:font typeface="Inter SemiBold" panose="020B0604020202020204" charset="0"/>
      <p:regular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Source Serif 4 Bold" panose="020B0604020202020204" charset="0"/>
      <p:regular r:id="rId22"/>
    </p:embeddedFont>
    <p:embeddedFont>
      <p:font typeface="Atkinson Hyperlegible Next" panose="020B0604020202020204" charset="0"/>
      <p:regular r:id="rId23"/>
    </p:embeddedFont>
    <p:embeddedFont>
      <p:font typeface="Inter Bold" panose="020B0604020202020204" charset="0"/>
      <p:regular r:id="rId24"/>
    </p:embeddedFont>
    <p:embeddedFont>
      <p:font typeface="Inter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5245" y="-103938"/>
            <a:ext cx="12662489" cy="706587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1430734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9DA6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HACKIIITDELHI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58705"/>
            <a:ext cx="10972526" cy="2509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0400" b="1" kern="100" spc="-104" dirty="0">
                <a:solidFill>
                  <a:srgbClr val="F2F5F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HackIIITDelhi 2026</a:t>
            </a:r>
            <a:endParaRPr lang="en-US" sz="10400" dirty="0"/>
          </a:p>
        </p:txBody>
      </p:sp>
      <p:sp>
        <p:nvSpPr>
          <p:cNvPr id="4" name="Text 2"/>
          <p:cNvSpPr/>
          <p:nvPr/>
        </p:nvSpPr>
        <p:spPr>
          <a:xfrm>
            <a:off x="609585" y="4469110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kern="100" spc="-36" dirty="0">
                <a:solidFill>
                  <a:srgbClr val="F2F5F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YojanaSathi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5108238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Professional Procrastinators</a:t>
            </a:r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169" y="2890362"/>
            <a:ext cx="3053346" cy="40752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5245" y="-103938"/>
            <a:ext cx="12662489" cy="706587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9DA6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THE ACCESS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0098"/>
            <a:ext cx="1097252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44" dirty="0">
                <a:solidFill>
                  <a:srgbClr val="F2F5F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Millions miss schemes they qualify for.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1678285"/>
            <a:ext cx="1097252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 offers thousands of central and state citizen entitlements, yet eligible beneficiaries miss out every day.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586335"/>
            <a:ext cx="3454314" cy="2990552"/>
          </a:xfrm>
          <a:prstGeom prst="rect">
            <a:avLst/>
          </a:prstGeom>
          <a:solidFill>
            <a:srgbClr val="1A294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578" y="2865735"/>
            <a:ext cx="457189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3578" y="3457238"/>
            <a:ext cx="29463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D5DEE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Scattered portals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3578" y="4018518"/>
            <a:ext cx="2946326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Dispersed across countless central, state, and district websites with no unified discovery point.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68691" y="2586335"/>
            <a:ext cx="3454314" cy="2990552"/>
          </a:xfrm>
          <a:prstGeom prst="rect">
            <a:avLst/>
          </a:prstGeom>
          <a:solidFill>
            <a:srgbClr val="1A294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684" y="2865735"/>
            <a:ext cx="457189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22684" y="3457238"/>
            <a:ext cx="29463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D5DEE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Complex criteria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622684" y="4018518"/>
            <a:ext cx="2946326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Eligibility criteria buried in lengthy bureaucratic circulars, PDFs, and dense administrative text.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27797" y="2586335"/>
            <a:ext cx="3454314" cy="2990552"/>
          </a:xfrm>
          <a:prstGeom prst="rect">
            <a:avLst/>
          </a:prstGeom>
          <a:solidFill>
            <a:srgbClr val="1A294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790" y="2865735"/>
            <a:ext cx="457189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81790" y="3457238"/>
            <a:ext cx="29463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D5DEE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Opaque deadlines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381790" y="4018518"/>
            <a:ext cx="2946326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Unclear paperwork checklists, changing renewal cutoffs, and missing official guidance.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5245" y="-103938"/>
            <a:ext cx="12662489" cy="706587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9DA6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LIVE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0098"/>
            <a:ext cx="1097252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b="1" kern="100" spc="-44" dirty="0">
                <a:solidFill>
                  <a:srgbClr val="F2F5F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YojanaSathi: your personal scheme finder, with proof.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460288"/>
            <a:ext cx="5333867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person enters a few details: age, state, income, occupation, category, gender, education, marks.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3552627"/>
            <a:ext cx="5333867" cy="2468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Searches official government sites live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each scheme's rules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Checks them against the person's profile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Eligible / Check details / Not eligible, with the reason</a:t>
            </a:r>
            <a:endParaRPr lang="en-US" sz="1800" dirty="0"/>
          </a:p>
          <a:p>
            <a:pPr marL="365760" indent="-36576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Quotes the official page as evidence and gives a document checklist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53036" y="3025378"/>
            <a:ext cx="28574" cy="837109"/>
          </a:xfrm>
          <a:prstGeom prst="roundRect">
            <a:avLst>
              <a:gd name="adj" fmla="val 50000"/>
            </a:avLst>
          </a:prstGeom>
          <a:solidFill>
            <a:srgbClr val="1E4EA1"/>
          </a:solidFill>
          <a:ln/>
        </p:spPr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/>
          <a:srcRect l="18048" r="21059"/>
          <a:stretch/>
        </p:blipFill>
        <p:spPr>
          <a:xfrm>
            <a:off x="6107185" y="1619402"/>
            <a:ext cx="5561902" cy="51352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8293" y="-103938"/>
            <a:ext cx="12668586" cy="706587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9DA6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kern="100" spc="-36" dirty="0">
                <a:solidFill>
                  <a:srgbClr val="F2F5F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Built for people who are hardest to reach.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76685"/>
            <a:ext cx="1097252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direct citizens as well as NGO caseworkers, CSC kiosks, and frontline community leaders.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484735"/>
            <a:ext cx="2514537" cy="2945110"/>
          </a:xfrm>
          <a:prstGeom prst="rect">
            <a:avLst/>
          </a:prstGeom>
          <a:solidFill>
            <a:srgbClr val="1A294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" y="2764135"/>
            <a:ext cx="457189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356590"/>
            <a:ext cx="205734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D5DEE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Students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38179" y="3816945"/>
            <a:ext cx="2057349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&amp; higher education scholarships, tuition waivers, and book grants.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28914" y="2484735"/>
            <a:ext cx="2514537" cy="2945110"/>
          </a:xfrm>
          <a:prstGeom prst="rect">
            <a:avLst/>
          </a:prstGeom>
          <a:solidFill>
            <a:srgbClr val="1A294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509" y="2764135"/>
            <a:ext cx="457189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509" y="3356590"/>
            <a:ext cx="205734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D5DEE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Farmers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657509" y="3816945"/>
            <a:ext cx="205734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Crop insurance, tractor subsidies, direct income support, and input aid.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248244" y="2484735"/>
            <a:ext cx="2514537" cy="2945110"/>
          </a:xfrm>
          <a:prstGeom prst="rect">
            <a:avLst/>
          </a:prstGeom>
          <a:solidFill>
            <a:srgbClr val="1A294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838" y="2764135"/>
            <a:ext cx="457189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76838" y="3356590"/>
            <a:ext cx="205734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D5DEE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Job seekers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476838" y="3816945"/>
            <a:ext cx="2057349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development programs, apprenticeship stipends, and mudra loans.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9067573" y="2484735"/>
            <a:ext cx="2514537" cy="2945110"/>
          </a:xfrm>
          <a:prstGeom prst="rect">
            <a:avLst/>
          </a:prstGeom>
          <a:solidFill>
            <a:srgbClr val="1A2940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167" y="2764135"/>
            <a:ext cx="457189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96167" y="3356590"/>
            <a:ext cx="205734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D5DEE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Vulnerable families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9296167" y="3816945"/>
            <a:ext cx="205734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Housing assistance, widow pensions, senior citizen cards, and healthcare aid.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09585" y="5607645"/>
            <a:ext cx="10972526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kern="100" spc="108" dirty="0">
                <a:solidFill>
                  <a:srgbClr val="9DA6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COMMUNITY ACCESS: ALSO SERVES COMMON SERVICE CENTRES (CSC), VILLAGE PANCHAYAT OPERATORS, AND SOCIAL WORKERS.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8293" y="-103938"/>
            <a:ext cx="12668586" cy="706587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9DA6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kern="100" spc="-36" dirty="0">
                <a:solidFill>
                  <a:srgbClr val="F2F5F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Simple, fast, and explainable.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71288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verification pipeline: zero external dependencies, plain tested rules, and live streaming.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2093516"/>
            <a:ext cx="85712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9AA8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585" y="2413595"/>
            <a:ext cx="2072529" cy="19050"/>
          </a:xfrm>
          <a:prstGeom prst="rect">
            <a:avLst/>
          </a:prstGeom>
          <a:solidFill>
            <a:srgbClr val="1E4EA1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571671"/>
            <a:ext cx="207262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5F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Vanilla Web UI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3032026"/>
            <a:ext cx="207262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Zero-framework JS frontend with live SSE updates.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34510" y="2093516"/>
            <a:ext cx="9028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9AA8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510" y="2413595"/>
            <a:ext cx="2072529" cy="19050"/>
          </a:xfrm>
          <a:prstGeom prst="rect">
            <a:avLst/>
          </a:prstGeom>
          <a:solidFill>
            <a:srgbClr val="1E4EA1"/>
          </a:solidFill>
          <a:ln/>
        </p:spPr>
      </p:sp>
      <p:sp>
        <p:nvSpPr>
          <p:cNvPr id="11" name="Text 9"/>
          <p:cNvSpPr/>
          <p:nvPr/>
        </p:nvSpPr>
        <p:spPr>
          <a:xfrm>
            <a:off x="2834510" y="2571671"/>
            <a:ext cx="207262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5F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Node.js Core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34510" y="3032026"/>
            <a:ext cx="207262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external packages, lightweight native runtime.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59434" y="2093516"/>
            <a:ext cx="9058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9AA8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59434" y="2413595"/>
            <a:ext cx="2072727" cy="19050"/>
          </a:xfrm>
          <a:prstGeom prst="rect">
            <a:avLst/>
          </a:prstGeom>
          <a:solidFill>
            <a:srgbClr val="1E4EA1"/>
          </a:solidFill>
          <a:ln/>
        </p:spPr>
      </p:sp>
      <p:sp>
        <p:nvSpPr>
          <p:cNvPr id="15" name="Text 13"/>
          <p:cNvSpPr/>
          <p:nvPr/>
        </p:nvSpPr>
        <p:spPr>
          <a:xfrm>
            <a:off x="5059434" y="2571671"/>
            <a:ext cx="207272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5F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TinyFish Suite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59434" y="3032026"/>
            <a:ext cx="207272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Search, Fetch, and Web Agent coordinate live calls.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84458" y="2093516"/>
            <a:ext cx="9126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9AA8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284458" y="2413595"/>
            <a:ext cx="2072529" cy="19050"/>
          </a:xfrm>
          <a:prstGeom prst="rect">
            <a:avLst/>
          </a:prstGeom>
          <a:solidFill>
            <a:srgbClr val="1E4EA1"/>
          </a:solidFill>
          <a:ln/>
        </p:spPr>
      </p:sp>
      <p:sp>
        <p:nvSpPr>
          <p:cNvPr id="19" name="Text 17"/>
          <p:cNvSpPr/>
          <p:nvPr/>
        </p:nvSpPr>
        <p:spPr>
          <a:xfrm>
            <a:off x="7284458" y="2571671"/>
            <a:ext cx="207262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5F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Eligibility Engine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84458" y="3032026"/>
            <a:ext cx="207262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Deterministic, plain code logic with zero AI guessing.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09383" y="2093516"/>
            <a:ext cx="9003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800" dirty="0">
                <a:solidFill>
                  <a:srgbClr val="9AA8B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09383" y="2413595"/>
            <a:ext cx="2072727" cy="19050"/>
          </a:xfrm>
          <a:prstGeom prst="rect">
            <a:avLst/>
          </a:prstGeom>
          <a:solidFill>
            <a:srgbClr val="1E4EA1"/>
          </a:solidFill>
          <a:ln/>
        </p:spPr>
      </p:sp>
      <p:sp>
        <p:nvSpPr>
          <p:cNvPr id="23" name="Text 21"/>
          <p:cNvSpPr/>
          <p:nvPr/>
        </p:nvSpPr>
        <p:spPr>
          <a:xfrm>
            <a:off x="9509383" y="2571671"/>
            <a:ext cx="207272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5F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JSON Cache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09383" y="3032026"/>
            <a:ext cx="207272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local store powering instant repeat searches.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9585" y="4035326"/>
            <a:ext cx="10972526" cy="1211461"/>
          </a:xfrm>
          <a:prstGeom prst="roundRect">
            <a:avLst>
              <a:gd name="adj" fmla="val 2830"/>
            </a:avLst>
          </a:prstGeom>
          <a:solidFill>
            <a:srgbClr val="14346B"/>
          </a:solidFill>
          <a:ln/>
        </p:spPr>
      </p:sp>
      <p:sp>
        <p:nvSpPr>
          <p:cNvPr id="26" name="Text 24"/>
          <p:cNvSpPr/>
          <p:nvPr/>
        </p:nvSpPr>
        <p:spPr>
          <a:xfrm>
            <a:off x="838179" y="4322028"/>
            <a:ext cx="105153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Audit trail:</a:t>
            </a: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Eligibility decisions rely on explicit, auditable boolean evaluation code rather than probabilistic model guesses, guaranteeing explainability.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8293" y="-103938"/>
            <a:ext cx="12668586" cy="706587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9DA6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INTEGRATION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5810"/>
            <a:ext cx="10972526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200" b="1" kern="100" spc="-32" dirty="0">
                <a:solidFill>
                  <a:srgbClr val="F2F5F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Three TinyFish APIs, each doing the job it's best at.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20488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pages are inconsistent and JavaScript-heavy, so a plain scraper can't read them reliably. TinyFish can.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2362696"/>
            <a:ext cx="3454314" cy="2697956"/>
          </a:xfrm>
          <a:prstGeom prst="rect">
            <a:avLst/>
          </a:prstGeom>
          <a:solidFill>
            <a:srgbClr val="1A2940"/>
          </a:solidFill>
          <a:ln w="12700">
            <a:solidFill>
              <a:srgbClr val="3344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6278" y="2581454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5DEE9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API 01 · DISCOVERY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278" y="2987457"/>
            <a:ext cx="292092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D5DEE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TinyFish Search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6278" y="3511252"/>
            <a:ext cx="292092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Turns the profile into queries and finds official </a:t>
            </a:r>
            <a:r>
              <a:rPr lang="en-US" sz="1500" dirty="0">
                <a:solidFill>
                  <a:srgbClr val="D5DEE9"/>
                </a:solidFill>
                <a:highlight>
                  <a:srgbClr val="1A29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gov.in</a:t>
            </a: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500" dirty="0">
                <a:solidFill>
                  <a:srgbClr val="D5DEE9"/>
                </a:solidFill>
                <a:highlight>
                  <a:srgbClr val="1A29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nic.in</a:t>
            </a: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scheme pages.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8691" y="2362696"/>
            <a:ext cx="3454314" cy="2697956"/>
          </a:xfrm>
          <a:prstGeom prst="rect">
            <a:avLst/>
          </a:prstGeom>
          <a:solidFill>
            <a:srgbClr val="1A2940"/>
          </a:solidFill>
          <a:ln w="12700">
            <a:solidFill>
              <a:srgbClr val="3344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5384" y="2581454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5DEE9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API 02 · EXTRACTION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5384" y="2987457"/>
            <a:ext cx="292092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D5DEE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TinyFish Fetch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35384" y="3511252"/>
            <a:ext cx="292092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Gets clean page text to verify quotes match the official page word for word.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27797" y="2362696"/>
            <a:ext cx="3454314" cy="2697956"/>
          </a:xfrm>
          <a:prstGeom prst="rect">
            <a:avLst/>
          </a:prstGeom>
          <a:solidFill>
            <a:srgbClr val="1A2940"/>
          </a:solidFill>
          <a:ln w="12700">
            <a:solidFill>
              <a:srgbClr val="3344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490" y="2581454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5DEE9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API 03 · AUTOMATION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94490" y="2987457"/>
            <a:ext cx="2920927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D5DEE9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TinyFish Web Agent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94490" y="3511252"/>
            <a:ext cx="2920927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Opens each scheme page in a real browser, follows Eligibility, Documents and How to Apply tabs, and returns rules as structured data.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8293" y="-103938"/>
            <a:ext cx="12668586" cy="706587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9DA6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ROADMAP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kern="100" spc="-36" dirty="0">
                <a:solidFill>
                  <a:srgbClr val="F2F5F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Working prototype today, clear path to scale.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576685"/>
            <a:ext cx="1097252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Validated with real applicant profiles, backed by planned infrastructure for nationwide deployment.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462193"/>
            <a:ext cx="36575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5DEE9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FEASIBILITY (TODAY)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2865656"/>
            <a:ext cx="342891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2F5F9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Working prototype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326011"/>
            <a:ext cx="342891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 live demo with real-time SSE streaming, test suites for matching rules, running on bare Node.js.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95688" y="2462193"/>
            <a:ext cx="34289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5DEE9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SCALABILITY (NEXT)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95688" y="2865656"/>
            <a:ext cx="320032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2F5F9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Production rollout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95688" y="3326011"/>
            <a:ext cx="320032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Saved-scheme cache for instant repeat hits, background worker queues, parallel agent pipelines, and automated updates.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53196" y="2462193"/>
            <a:ext cx="34289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5DEE9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REAL TEST SCENARIO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53196" y="2865656"/>
            <a:ext cx="342891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2F5F9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Priya, 20 (Assam)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53196" y="3326011"/>
            <a:ext cx="342891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Income: ₹95,600/year. Discovered 3 eligible state scholarship schemes in minutes, complete with verified criteria and document lists.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9585" y="4596011"/>
            <a:ext cx="10972526" cy="1211461"/>
          </a:xfrm>
          <a:prstGeom prst="roundRect">
            <a:avLst>
              <a:gd name="adj" fmla="val 2830"/>
            </a:avLst>
          </a:prstGeom>
          <a:solidFill>
            <a:srgbClr val="022349"/>
          </a:solidFill>
          <a:ln/>
        </p:spPr>
      </p:sp>
      <p:sp>
        <p:nvSpPr>
          <p:cNvPr id="15" name="Text 13"/>
          <p:cNvSpPr/>
          <p:nvPr/>
        </p:nvSpPr>
        <p:spPr>
          <a:xfrm>
            <a:off x="838179" y="4882713"/>
            <a:ext cx="1051533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note:</a:t>
            </a: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initial live discovery run takes 2–3 minutes per profile. Subsequent queries for identical demographic cohorts return instantly from cache.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60743" y="2459335"/>
            <a:ext cx="12700" cy="1933476"/>
          </a:xfrm>
          <a:prstGeom prst="rect">
            <a:avLst/>
          </a:prstGeom>
          <a:solidFill>
            <a:srgbClr val="33445E"/>
          </a:solidFill>
          <a:ln/>
        </p:spPr>
      </p:sp>
      <p:sp>
        <p:nvSpPr>
          <p:cNvPr id="17" name="Shape 15"/>
          <p:cNvSpPr/>
          <p:nvPr/>
        </p:nvSpPr>
        <p:spPr>
          <a:xfrm>
            <a:off x="7918252" y="2459335"/>
            <a:ext cx="12700" cy="1933476"/>
          </a:xfrm>
          <a:prstGeom prst="rect">
            <a:avLst/>
          </a:prstGeom>
          <a:solidFill>
            <a:srgbClr val="33445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8293" y="-103938"/>
            <a:ext cx="12668586" cy="706587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609600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168" dirty="0">
                <a:solidFill>
                  <a:srgbClr val="9DA6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EXECUTION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b="1" kern="100" spc="-36" dirty="0">
                <a:solidFill>
                  <a:srgbClr val="F2F5F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From profile to proof in five steps.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3147616"/>
            <a:ext cx="10972526" cy="28575"/>
          </a:xfrm>
          <a:prstGeom prst="roundRect">
            <a:avLst>
              <a:gd name="adj" fmla="val 49999"/>
            </a:avLst>
          </a:prstGeom>
          <a:solidFill>
            <a:srgbClr val="9AA8BC"/>
          </a:solidFill>
          <a:ln/>
        </p:spPr>
      </p:sp>
      <p:sp>
        <p:nvSpPr>
          <p:cNvPr id="5" name="Shape 3"/>
          <p:cNvSpPr/>
          <p:nvPr/>
        </p:nvSpPr>
        <p:spPr>
          <a:xfrm>
            <a:off x="2328804" y="2690416"/>
            <a:ext cx="28574" cy="457200"/>
          </a:xfrm>
          <a:prstGeom prst="roundRect">
            <a:avLst>
              <a:gd name="adj" fmla="val 50000"/>
            </a:avLst>
          </a:prstGeom>
          <a:solidFill>
            <a:srgbClr val="9AA8BC"/>
          </a:solidFill>
          <a:ln/>
        </p:spPr>
      </p:sp>
      <p:sp>
        <p:nvSpPr>
          <p:cNvPr id="6" name="Shape 4"/>
          <p:cNvSpPr/>
          <p:nvPr/>
        </p:nvSpPr>
        <p:spPr>
          <a:xfrm>
            <a:off x="2257369" y="3061891"/>
            <a:ext cx="171446" cy="171450"/>
          </a:xfrm>
          <a:prstGeom prst="ellipse">
            <a:avLst/>
          </a:prstGeom>
          <a:solidFill>
            <a:srgbClr val="1E4EA1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1494135"/>
            <a:ext cx="300982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b="1" kern="100" spc="-18" dirty="0">
                <a:solidFill>
                  <a:srgbClr val="D5DEE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1. Profile build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179" y="1928416"/>
            <a:ext cx="30098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search queries from state, category, and income.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05182" y="3147616"/>
            <a:ext cx="28574" cy="457200"/>
          </a:xfrm>
          <a:prstGeom prst="roundRect">
            <a:avLst>
              <a:gd name="adj" fmla="val 50000"/>
            </a:avLst>
          </a:prstGeom>
          <a:solidFill>
            <a:srgbClr val="9AA8BC"/>
          </a:solidFill>
          <a:ln/>
        </p:spPr>
      </p:sp>
      <p:sp>
        <p:nvSpPr>
          <p:cNvPr id="10" name="Shape 8"/>
          <p:cNvSpPr/>
          <p:nvPr/>
        </p:nvSpPr>
        <p:spPr>
          <a:xfrm>
            <a:off x="4133747" y="3061891"/>
            <a:ext cx="171446" cy="171450"/>
          </a:xfrm>
          <a:prstGeom prst="ellipse">
            <a:avLst/>
          </a:prstGeom>
          <a:solidFill>
            <a:srgbClr val="1E4EA1"/>
          </a:solidFill>
          <a:ln/>
        </p:spPr>
      </p:sp>
      <p:sp>
        <p:nvSpPr>
          <p:cNvPr id="11" name="Text 9"/>
          <p:cNvSpPr/>
          <p:nvPr/>
        </p:nvSpPr>
        <p:spPr>
          <a:xfrm>
            <a:off x="2714557" y="3833416"/>
            <a:ext cx="300982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b="1" kern="100" spc="-18" dirty="0">
                <a:solidFill>
                  <a:srgbClr val="D5DEE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2. Official search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14557" y="4267696"/>
            <a:ext cx="30098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TinyFish filters gov.in domains and eliminates duplicates.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81560" y="2690416"/>
            <a:ext cx="28574" cy="457200"/>
          </a:xfrm>
          <a:prstGeom prst="roundRect">
            <a:avLst>
              <a:gd name="adj" fmla="val 50000"/>
            </a:avLst>
          </a:prstGeom>
          <a:solidFill>
            <a:srgbClr val="9AA8B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10125" y="3061891"/>
            <a:ext cx="171446" cy="171450"/>
          </a:xfrm>
          <a:prstGeom prst="ellipse">
            <a:avLst/>
          </a:prstGeom>
          <a:solidFill>
            <a:srgbClr val="1E4EA1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935" y="1494135"/>
            <a:ext cx="300982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b="1" kern="100" spc="-18" dirty="0">
                <a:solidFill>
                  <a:srgbClr val="D5DEE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3. Evidence fetch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0935" y="1928416"/>
            <a:ext cx="30098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Pulls raw text records for verbatim rule checking.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57938" y="3147616"/>
            <a:ext cx="28574" cy="457200"/>
          </a:xfrm>
          <a:prstGeom prst="roundRect">
            <a:avLst>
              <a:gd name="adj" fmla="val 50000"/>
            </a:avLst>
          </a:prstGeom>
          <a:solidFill>
            <a:srgbClr val="9AA8BC"/>
          </a:solidFill>
          <a:ln/>
        </p:spPr>
      </p:sp>
      <p:sp>
        <p:nvSpPr>
          <p:cNvPr id="18" name="Shape 16"/>
          <p:cNvSpPr/>
          <p:nvPr/>
        </p:nvSpPr>
        <p:spPr>
          <a:xfrm>
            <a:off x="7886503" y="3061891"/>
            <a:ext cx="171446" cy="171450"/>
          </a:xfrm>
          <a:prstGeom prst="ellipse">
            <a:avLst/>
          </a:prstGeom>
          <a:solidFill>
            <a:srgbClr val="1E4EA1"/>
          </a:solidFill>
          <a:ln/>
        </p:spPr>
      </p:sp>
      <p:sp>
        <p:nvSpPr>
          <p:cNvPr id="19" name="Text 17"/>
          <p:cNvSpPr/>
          <p:nvPr/>
        </p:nvSpPr>
        <p:spPr>
          <a:xfrm>
            <a:off x="6467313" y="3833416"/>
            <a:ext cx="300982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b="1" kern="100" spc="-18" dirty="0">
                <a:solidFill>
                  <a:srgbClr val="D5DEE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4. Agent parse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67313" y="4267696"/>
            <a:ext cx="30098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parallel browsers to unpack dynamic criteria tabs.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834316" y="2690416"/>
            <a:ext cx="28574" cy="457200"/>
          </a:xfrm>
          <a:prstGeom prst="roundRect">
            <a:avLst>
              <a:gd name="adj" fmla="val 50000"/>
            </a:avLst>
          </a:prstGeom>
          <a:solidFill>
            <a:srgbClr val="9AA8BC"/>
          </a:solidFill>
          <a:ln/>
        </p:spPr>
      </p:sp>
      <p:sp>
        <p:nvSpPr>
          <p:cNvPr id="22" name="Shape 20"/>
          <p:cNvSpPr/>
          <p:nvPr/>
        </p:nvSpPr>
        <p:spPr>
          <a:xfrm>
            <a:off x="9762881" y="3061891"/>
            <a:ext cx="171446" cy="171450"/>
          </a:xfrm>
          <a:prstGeom prst="ellipse">
            <a:avLst/>
          </a:prstGeom>
          <a:solidFill>
            <a:srgbClr val="1E4EA1"/>
          </a:solidFill>
          <a:ln/>
        </p:spPr>
      </p:sp>
      <p:sp>
        <p:nvSpPr>
          <p:cNvPr id="23" name="Text 21"/>
          <p:cNvSpPr/>
          <p:nvPr/>
        </p:nvSpPr>
        <p:spPr>
          <a:xfrm>
            <a:off x="8343691" y="1494135"/>
            <a:ext cx="3009825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b="1" kern="100" spc="-18" dirty="0">
                <a:solidFill>
                  <a:srgbClr val="D5DEE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5. Stream &amp; save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43691" y="1928416"/>
            <a:ext cx="30098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500" dirty="0">
                <a:solidFill>
                  <a:srgbClr val="D5DE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Pushes results via SSE and caches schemas for fast reuse.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9585" y="4978896"/>
            <a:ext cx="10972526" cy="777081"/>
          </a:xfrm>
          <a:prstGeom prst="rect">
            <a:avLst/>
          </a:prstGeom>
          <a:solidFill>
            <a:srgbClr val="1A2940"/>
          </a:solidFill>
          <a:ln w="12700">
            <a:solidFill>
              <a:srgbClr val="3344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879" y="5172254"/>
            <a:ext cx="524496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5DEE9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LIVE STATUS: CHECKED 4 OF 10 SCHEMES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5848" y="5172254"/>
            <a:ext cx="5244969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100" spc="96" dirty="0">
                <a:solidFill>
                  <a:srgbClr val="D5DEE9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SAFEGUARDS: GOV.IN DOMAINS ONLY · WORD-FOR-WORD PROOF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896</Words>
  <Application>Microsoft Office PowerPoint</Application>
  <PresentationFormat>Widescreen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Calibri</vt:lpstr>
      <vt:lpstr>Fragment Mono</vt:lpstr>
      <vt:lpstr>Atkinson Hyperlegible Next Bold</vt:lpstr>
      <vt:lpstr>Arial</vt:lpstr>
      <vt:lpstr>Inter SemiBold</vt:lpstr>
      <vt:lpstr>Consolas</vt:lpstr>
      <vt:lpstr>Source Serif 4 Bold</vt:lpstr>
      <vt:lpstr>Atkinson Hyperlegible Next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</dc:creator>
  <cp:lastModifiedBy>Microsoft account</cp:lastModifiedBy>
  <cp:revision>2</cp:revision>
  <dcterms:created xsi:type="dcterms:W3CDTF">2026-10-14T10:34:11Z</dcterms:created>
  <dcterms:modified xsi:type="dcterms:W3CDTF">2026-10-14T10:41:10Z</dcterms:modified>
</cp:coreProperties>
</file>